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645920" y="822960"/>
            <a:ext cx="8869680" cy="5074920"/>
          </a:xfrm>
          <a:prstGeom prst="rect">
            <a:avLst/>
          </a:prstGeom>
          <a:solidFill>
            <a:srgbClr val="0C182B"/>
          </a:solidFill>
          <a:ln w="15240">
            <a:solidFill>
              <a:srgbClr val="1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1417320"/>
            <a:ext cx="77724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0">
                <a:solidFill>
                  <a:srgbClr val="F4F8FC"/>
                </a:solidFill>
                <a:latin typeface="Aptos Display"/>
              </a:defRPr>
            </a:pPr>
            <a:r>
              <a:t>MintStack Finance Portal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2468880"/>
            <a:ext cx="7955279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200" b="0">
                <a:solidFill>
                  <a:srgbClr val="19BEFF"/>
                </a:solidFill>
                <a:latin typeface="Aptos"/>
              </a:defRPr>
            </a:pPr>
            <a:r>
              <a:t>Teknik Mimari ve Production Readiness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3063240"/>
            <a:ext cx="6309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Doğrulanmış Sistem Durumu · Sürüm 2.1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86200" y="3749039"/>
            <a:ext cx="1920240" cy="329184"/>
          </a:xfrm>
          <a:prstGeom prst="round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86200" y="3749039"/>
            <a:ext cx="192024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MODÜLER MONOLITH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89320" y="3749039"/>
            <a:ext cx="1325880" cy="329184"/>
          </a:xfrm>
          <a:prstGeom prst="round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89320" y="3749039"/>
            <a:ext cx="132588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16 SERVİS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98079" y="3749039"/>
            <a:ext cx="150876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79" y="3749039"/>
            <a:ext cx="150876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31 MIGRATION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4800600"/>
            <a:ext cx="5760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9EAEC2"/>
                </a:solidFill>
                <a:latin typeface="Aptos"/>
              </a:defRPr>
            </a:pPr>
            <a:r>
              <a:t>Mesut Taha Güven  ·  05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Ürün Kapsamı ve Mimari Karar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31520" y="1325880"/>
            <a:ext cx="5349240" cy="443484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1520" y="1325880"/>
            <a:ext cx="41148" cy="443484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" y="1435607"/>
            <a:ext cx="5074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Ürün Yetkinlikleri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" y="1856231"/>
            <a:ext cx="5056631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• BIST, döviz, fon, tahvil, VIOP ve endeks izleme</a:t>
            </a:r>
            <a:br/>
            <a:br/>
            <a:r>
              <a:t>• Sanal portföy ve MARKET/LIMIT/STOP emir motoru</a:t>
            </a:r>
            <a:br/>
            <a:br/>
            <a:r>
              <a:t>• RSI, MACD, Bollinger, Monte Carlo ve backtesting</a:t>
            </a:r>
            <a:br/>
            <a:br/>
            <a:r>
              <a:t>• Haber, alarm, bildirim ve gerçek zamanlı fiyat akışı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1325880"/>
            <a:ext cx="5166360" cy="443484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63640" y="1325880"/>
            <a:ext cx="41148" cy="443484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28231" y="1435607"/>
            <a:ext cx="4892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Neden Modüler Monolith?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8231" y="1856231"/>
            <a:ext cx="4873752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Tek deployable backend; açık domain sınırları.</a:t>
            </a:r>
            <a:br/>
            <a:br/>
            <a:r>
              <a:t>Mikroservis operasyon karmaşıklığı olmadan transaction bütünlüğü.</a:t>
            </a:r>
            <a:br/>
            <a:br/>
            <a:r>
              <a:t>Kafka, Redis ve OpenSearch yalnız gerçek event/cache/search ihtiyaçlarında.</a:t>
            </a:r>
            <a:br/>
            <a:br/>
            <a:r>
              <a:t>Mevcut ekip ve domain ölçeği için doğru maliyet–fayda dengesi.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51960" y="5989320"/>
            <a:ext cx="3657600" cy="329184"/>
          </a:xfrm>
          <a:prstGeom prst="round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60" y="5989320"/>
            <a:ext cx="365760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KARAR: MİMARİ TEMEL DOĞRU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05 Temmuz 2026 · Doğrulanmış Durum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85800" y="132588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9BEFF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1892807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Docker servisi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132588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ABC84"/>
                </a:solidFill>
                <a:latin typeface="Aptos Display"/>
              </a:defRPr>
            </a:pPr>
            <a:r>
              <a:t>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1892807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Flyway migration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2040" y="132588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F59E0B"/>
                </a:solidFill>
                <a:latin typeface="Aptos Display"/>
              </a:defRPr>
            </a:pPr>
            <a:r>
              <a:t>314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1892807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Backend test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132588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9BEFF"/>
                </a:solidFill>
                <a:latin typeface="Aptos Display"/>
              </a:defRPr>
            </a:pPr>
            <a:r>
              <a:t>178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1892807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Frontend test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132588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ABC84"/>
                </a:solidFill>
                <a:latin typeface="Aptos Display"/>
              </a:defRPr>
            </a:pPr>
            <a:r>
              <a:t>GREEN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98280" y="1892807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OpenSearch cluster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2514600"/>
            <a:ext cx="5440680" cy="306324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2514600"/>
            <a:ext cx="41148" cy="306324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32" y="2624328"/>
            <a:ext cx="5166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Uçtan Uca Smoke Test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" y="3044952"/>
            <a:ext cx="5148072" cy="2441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✓ UI / Nginx HTTP 200</a:t>
            </a:r>
            <a:br/>
            <a:r>
              <a:t>✓ Spring Actuator HTTP 200</a:t>
            </a:r>
            <a:br/>
            <a:r>
              <a:t>✓ Keycloak OIDC discovery HTTP 200</a:t>
            </a:r>
            <a:br/>
            <a:r>
              <a:t>✓ Market API HTTP 200</a:t>
            </a:r>
            <a:br/>
            <a:r>
              <a:t>✓ Grafana ve Dashboards HTTP 200</a:t>
            </a:r>
            <a:br/>
            <a:r>
              <a:t>✓ Prometheus kritik target’ları 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2514600"/>
            <a:ext cx="4983480" cy="306324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2514600"/>
            <a:ext cx="41148" cy="3063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65392" y="2624328"/>
            <a:ext cx="4709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Kalite Kapıları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5392" y="3044952"/>
            <a:ext cx="4690872" cy="2441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✓ Backend clean verify + JaCoCo</a:t>
            </a:r>
            <a:br/>
            <a:r>
              <a:t>✓ Frontend lint + typecheck + build</a:t>
            </a:r>
            <a:br/>
            <a:r>
              <a:t>✓ Vitest coverage baseline</a:t>
            </a:r>
            <a:br/>
            <a:r>
              <a:t>✓ V30/V31 canlı PostgreSQL doğrulaması</a:t>
            </a:r>
            <a:br/>
            <a:r>
              <a:t>⚠ OWASP ve Trivy şu an non-blocking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Sistem Mimarisi ve Ana Akış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94360" y="1874519"/>
            <a:ext cx="2029968" cy="1280160"/>
          </a:xfrm>
          <a:prstGeom prst="rect">
            <a:avLst/>
          </a:prstGeom>
          <a:solidFill>
            <a:srgbClr val="112139"/>
          </a:solidFill>
          <a:ln w="17780">
            <a:solidFill>
              <a:srgbClr val="1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1920240"/>
            <a:ext cx="188366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700" b="0">
                <a:solidFill>
                  <a:srgbClr val="F4F8FC"/>
                </a:solidFill>
                <a:latin typeface="Aptos"/>
              </a:defRPr>
            </a:pPr>
            <a:r>
              <a:t>React SPA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" y="2624328"/>
            <a:ext cx="188366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9EAEC2"/>
                </a:solidFill>
                <a:latin typeface="Aptos"/>
              </a:defRPr>
            </a:pPr>
            <a:r>
              <a:t>PKCE · RTK Query · STOMP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642616" y="2505456"/>
            <a:ext cx="256032" cy="0"/>
          </a:xfrm>
          <a:prstGeom prst="line">
            <a:avLst/>
          </a:prstGeom>
          <a:ln w="1778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926079" y="1874519"/>
            <a:ext cx="2029968" cy="1280160"/>
          </a:xfrm>
          <a:prstGeom prst="rect">
            <a:avLst/>
          </a:prstGeom>
          <a:solidFill>
            <a:srgbClr val="112139"/>
          </a:solidFill>
          <a:ln w="17780">
            <a:solidFill>
              <a:srgbClr val="1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9232" y="1920240"/>
            <a:ext cx="188366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700" b="0">
                <a:solidFill>
                  <a:srgbClr val="F4F8FC"/>
                </a:solidFill>
                <a:latin typeface="Aptos"/>
              </a:defRPr>
            </a:pPr>
            <a:r>
              <a:t>Nginx Edge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99232" y="2624328"/>
            <a:ext cx="188366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9EAEC2"/>
                </a:solidFill>
                <a:latin typeface="Aptos"/>
              </a:defRPr>
            </a:pPr>
            <a:r>
              <a:t>Reverse Proxy · CSP · TLS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974336" y="2505456"/>
            <a:ext cx="256032" cy="0"/>
          </a:xfrm>
          <a:prstGeom prst="line">
            <a:avLst/>
          </a:prstGeom>
          <a:ln w="1778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257800" y="1874519"/>
            <a:ext cx="2029968" cy="1280160"/>
          </a:xfrm>
          <a:prstGeom prst="rect">
            <a:avLst/>
          </a:prstGeom>
          <a:solidFill>
            <a:srgbClr val="112139"/>
          </a:solidFill>
          <a:ln w="17780">
            <a:solidFill>
              <a:srgbClr val="1AB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30952" y="1920240"/>
            <a:ext cx="188366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700" b="0">
                <a:solidFill>
                  <a:srgbClr val="F4F8FC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30952" y="2624328"/>
            <a:ext cx="188366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9EAEC2"/>
                </a:solidFill>
                <a:latin typeface="Aptos"/>
              </a:defRPr>
            </a:pPr>
            <a:r>
              <a:t>REST · Domain · Scheduler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06056" y="2505456"/>
            <a:ext cx="256032" cy="0"/>
          </a:xfrm>
          <a:prstGeom prst="line">
            <a:avLst/>
          </a:prstGeom>
          <a:ln w="1778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589520" y="1874519"/>
            <a:ext cx="2029968" cy="1280160"/>
          </a:xfrm>
          <a:prstGeom prst="rect">
            <a:avLst/>
          </a:prstGeom>
          <a:solidFill>
            <a:srgbClr val="112139"/>
          </a:solidFill>
          <a:ln w="17780">
            <a:solidFill>
              <a:srgbClr val="1AB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62672" y="1920240"/>
            <a:ext cx="188366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700" b="0">
                <a:solidFill>
                  <a:srgbClr val="F4F8FC"/>
                </a:solidFill>
                <a:latin typeface="Aptos"/>
              </a:defRPr>
            </a:pPr>
            <a:r>
              <a:t>PostgreSQL + Redis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2672" y="2624328"/>
            <a:ext cx="188366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9EAEC2"/>
                </a:solidFill>
                <a:latin typeface="Aptos"/>
              </a:defRPr>
            </a:pPr>
            <a:r>
              <a:t>ACID · Cache · Pub/Sub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637776" y="2505456"/>
            <a:ext cx="256032" cy="0"/>
          </a:xfrm>
          <a:prstGeom prst="line">
            <a:avLst/>
          </a:prstGeom>
          <a:ln w="1778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9921240" y="1874519"/>
            <a:ext cx="2029968" cy="1280160"/>
          </a:xfrm>
          <a:prstGeom prst="rect">
            <a:avLst/>
          </a:prstGeom>
          <a:solidFill>
            <a:srgbClr val="112139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94392" y="1920240"/>
            <a:ext cx="1883664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700" b="0">
                <a:solidFill>
                  <a:srgbClr val="F4F8FC"/>
                </a:solidFill>
                <a:latin typeface="Aptos"/>
              </a:defRPr>
            </a:pPr>
            <a:r>
              <a:t>Kafka + OpenSearch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94392" y="2624328"/>
            <a:ext cx="188366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9EAEC2"/>
                </a:solidFill>
                <a:latin typeface="Aptos"/>
              </a:defRPr>
            </a:pPr>
            <a:r>
              <a:t>Event · DLT · Search/Log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" y="3886200"/>
            <a:ext cx="3154680" cy="141732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" y="3886200"/>
            <a:ext cx="41148" cy="141732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78992" y="3995928"/>
            <a:ext cx="2880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" y="4416552"/>
            <a:ext cx="286207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Keycloak 26.5.4 · OIDC/JWT · RBAC · TOTP · LDAP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26280" y="3886200"/>
            <a:ext cx="3154680" cy="141732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26280" y="3886200"/>
            <a:ext cx="41148" cy="141732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90872" y="3995928"/>
            <a:ext cx="2880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Realtime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90872" y="4416552"/>
            <a:ext cx="286207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Redis pub/sub fanout · WebSocket allowlist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38160" y="3886200"/>
            <a:ext cx="3154680" cy="141732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38160" y="3886200"/>
            <a:ext cx="4114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02752" y="3995928"/>
            <a:ext cx="2880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02752" y="4416552"/>
            <a:ext cx="2862072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OTEL · Prometheus · Grafana · Alertmanager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Backend ve Veri Katmanı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85800" y="1280160"/>
            <a:ext cx="3520440" cy="44805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5800" y="1280160"/>
            <a:ext cx="41148" cy="448056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" y="1389888"/>
            <a:ext cx="32461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Backend Yapısı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" y="1810512"/>
            <a:ext cx="3227832" cy="3858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20 controller</a:t>
            </a:r>
            <a:br/>
            <a:r>
              <a:t>67 service sınıfı</a:t>
            </a:r>
            <a:br/>
            <a:r>
              <a:t>17 repository</a:t>
            </a:r>
            <a:br/>
            <a:r>
              <a:t>19 JPA entity</a:t>
            </a:r>
            <a:br/>
            <a:br/>
            <a:r>
              <a:t>Controller → Service → Repository</a:t>
            </a:r>
            <a:br/>
            <a:r>
              <a:t>DTO + mapper + global exception</a:t>
            </a:r>
            <a:br/>
            <a:r>
              <a:t>Java 21 / Spring Boot 3.4.2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1280160"/>
            <a:ext cx="3520440" cy="44805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43400" y="1280160"/>
            <a:ext cx="41148" cy="448056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07992" y="1389888"/>
            <a:ext cx="32461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V30 / V31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07992" y="1810512"/>
            <a:ext cx="3227832" cy="3858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• Financial CHECK constraint’leri</a:t>
            </a:r>
            <a:br/>
            <a:r>
              <a:t>• Transaction history ON DELETE RESTRICT</a:t>
            </a:r>
            <a:br/>
            <a:r>
              <a:t>• AES-GCM credential kolonları</a:t>
            </a:r>
            <a:br/>
            <a:r>
              <a:t>• pg_trgm GIN indeksleri</a:t>
            </a:r>
            <a:br/>
            <a:r>
              <a:t>• Query-specific composite index’ler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1280160"/>
            <a:ext cx="3520440" cy="44805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01000" y="1280160"/>
            <a:ext cx="4114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65592" y="1389888"/>
            <a:ext cx="32461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Performans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65592" y="1810512"/>
            <a:ext cx="3227832" cy="3858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• Batch recent-history sorguları</a:t>
            </a:r>
            <a:br/>
            <a:r>
              <a:t>• Batch 52-week aggregation</a:t>
            </a:r>
            <a:br/>
            <a:r>
              <a:t>• Admin count projection</a:t>
            </a:r>
            <a:br/>
            <a:r>
              <a:t>• N+1 azaltımı</a:t>
            </a:r>
            <a:br/>
            <a:r>
              <a:t>• Scheduler ShedLock</a:t>
            </a:r>
            <a:br/>
            <a:r>
              <a:t>• Kafka retry + DLT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Frontend ve Gerçek Zamanlı Deneyim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31520" y="1234440"/>
            <a:ext cx="5212080" cy="452628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1520" y="1234440"/>
            <a:ext cx="41148" cy="452628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" y="1344168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React Mimarisi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" y="1764792"/>
            <a:ext cx="4919472" cy="3904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React 18 · TypeScript 5.9 · Vite 7</a:t>
            </a:r>
            <a:br/>
            <a:r>
              <a:t>Redux Toolkit + RTK Query</a:t>
            </a:r>
            <a:br/>
            <a:r>
              <a:t>Lazy route’lar ve AppRoutes ayrımı</a:t>
            </a:r>
            <a:br/>
            <a:r>
              <a:t>Tek API katmanı; legacy Axios servisleri kaldırıldı</a:t>
            </a:r>
            <a:br/>
            <a:r>
              <a:t>Serialized token refresh</a:t>
            </a:r>
            <a:br/>
            <a:r>
              <a:t>DOMPurify + masked Sentry replay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1234440"/>
            <a:ext cx="5257800" cy="452628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1234440"/>
            <a:ext cx="41148" cy="452628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36792" y="1344168"/>
            <a:ext cx="4983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Realtime ve Kalite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1764792"/>
            <a:ext cx="4965192" cy="3904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STOMP/SockJS fiyat ve bildirim akışı</a:t>
            </a:r>
            <a:br/>
            <a:r>
              <a:t>Redis pub/sub ile çok replica fanout</a:t>
            </a:r>
            <a:br/>
            <a:r>
              <a:t>Ana bundle ≈ 378 KB</a:t>
            </a:r>
            <a:br/>
            <a:r>
              <a:t>Charts chunk ≈ 431 KB</a:t>
            </a:r>
            <a:br/>
            <a:br/>
            <a:r>
              <a:t>26 test dosyası · 178 test</a:t>
            </a:r>
            <a:br/>
            <a:r>
              <a:t>Coverage ≈ %20 → yükseltilmeli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0" y="5989320"/>
            <a:ext cx="493776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5989320"/>
            <a:ext cx="493776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ÖNCELİK: BÜYÜK SAYFALARI AYRIŞTIR + KRİTİK E2E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Güvenlik Mimarisi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85800" y="1325880"/>
            <a:ext cx="3246120" cy="15087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5800" y="1325880"/>
            <a:ext cx="41148" cy="150876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" y="1435607"/>
            <a:ext cx="2971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" y="1856231"/>
            <a:ext cx="295351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Issuer + audience/azp doğrulama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60" y="1325880"/>
            <a:ext cx="3246120" cy="15087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51960" y="1325880"/>
            <a:ext cx="41148" cy="150876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16552" y="1435607"/>
            <a:ext cx="2971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RBAC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16552" y="1856231"/>
            <a:ext cx="295351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USER / ADMIN endpoint politikaları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18120" y="1325880"/>
            <a:ext cx="3246120" cy="15087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18120" y="1325880"/>
            <a:ext cx="41148" cy="150876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82712" y="1435607"/>
            <a:ext cx="2971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WebSocket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82712" y="1856231"/>
            <a:ext cx="295351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JWT CONNECT + SEND reject + allowlist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5800" y="3246120"/>
            <a:ext cx="3246120" cy="15087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85800" y="3246120"/>
            <a:ext cx="41148" cy="150876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0392" y="3355848"/>
            <a:ext cx="2971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Rate Limit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" y="3776472"/>
            <a:ext cx="295351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Redis Bucket4j + trusted proxy CIDR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51960" y="3246120"/>
            <a:ext cx="3246120" cy="15087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51960" y="3246120"/>
            <a:ext cx="4114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16552" y="3355848"/>
            <a:ext cx="2971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Secrets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16552" y="3776472"/>
            <a:ext cx="295351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Docker *_FILE + AES-256-GCM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18120" y="3246120"/>
            <a:ext cx="3246120" cy="15087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18120" y="3246120"/>
            <a:ext cx="41148" cy="1508760"/>
          </a:xfrm>
          <a:prstGeom prst="rect">
            <a:avLst/>
          </a:prstGeom>
          <a:solidFill>
            <a:srgbClr val="DC3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82712" y="3355848"/>
            <a:ext cx="2971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Prod Blocker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82712" y="3776472"/>
            <a:ext cx="2953512" cy="8869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Wildcard CORS + güvensiz defaults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1">
                <a:solidFill>
                  <a:srgbClr val="DC383D"/>
                </a:solidFill>
                <a:latin typeface="Aptos"/>
              </a:defRPr>
            </a:pPr>
            <a:r>
              <a:t>Production gate: exact CORS + safe defaults + doğrulanmış TLS/CA + blocking CVE scan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DevOps ve Gözlemlenebilirlik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40080" y="1234440"/>
            <a:ext cx="3566160" cy="452628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" y="1234440"/>
            <a:ext cx="41148" cy="452628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1" y="1344168"/>
            <a:ext cx="3291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Container Topolojisi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1" y="1764792"/>
            <a:ext cx="3273552" cy="3904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Development / Light / Production compose</a:t>
            </a:r>
            <a:br/>
            <a:r>
              <a:t>Healthcheck + restart policy</a:t>
            </a:r>
            <a:br/>
            <a:r>
              <a:t>Ağ segmentasyonu</a:t>
            </a:r>
            <a:br/>
            <a:r>
              <a:t>Non-root app image’ları</a:t>
            </a:r>
            <a:br/>
            <a:r>
              <a:t>Tek OpenSearch node + ayrı Dashboards</a:t>
            </a:r>
            <a:br/>
            <a:r>
              <a:t>Backend replica desteği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15968" y="1234440"/>
            <a:ext cx="3566160" cy="452628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15968" y="1234440"/>
            <a:ext cx="41148" cy="452628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0559" y="1344168"/>
            <a:ext cx="3291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Telemetry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59" y="1764792"/>
            <a:ext cx="3273552" cy="3904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Spring Actuator → Prometheus</a:t>
            </a:r>
            <a:br/>
            <a:r>
              <a:t>Kafka exporter → consumer lag</a:t>
            </a:r>
            <a:br/>
            <a:r>
              <a:t>OTEL Collector → trace/metric/log</a:t>
            </a:r>
            <a:br/>
            <a:r>
              <a:t>Grafana provisioning</a:t>
            </a:r>
            <a:br/>
            <a:r>
              <a:t>Alertmanager webhook</a:t>
            </a:r>
            <a:br/>
            <a:r>
              <a:t>Structured traceId/spanId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1234440"/>
            <a:ext cx="3566160" cy="452628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01000" y="1234440"/>
            <a:ext cx="41148" cy="4526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65592" y="1344168"/>
            <a:ext cx="3291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Operasyonel Gerçek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65592" y="1764792"/>
            <a:ext cx="3273552" cy="3904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Compose smoke test: PASS</a:t>
            </a:r>
            <a:br/>
            <a:r>
              <a:t>Prometheus targetları: UP</a:t>
            </a:r>
            <a:br/>
            <a:r>
              <a:t>OpenSearch cluster: GREEN</a:t>
            </a:r>
            <a:br/>
            <a:r>
              <a:t>V30/V31: SUCCESS</a:t>
            </a:r>
            <a:br/>
            <a:br/>
            <a:r>
              <a:t>⚠ Backup/restore ve gerçek prod rollback tatbikatı henüz kanıtlanmalı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CI/CD ve Test Gerçekleri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7240" y="128016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9BEFF"/>
                </a:solidFill>
                <a:latin typeface="Aptos Display"/>
              </a:defRPr>
            </a:pPr>
            <a:r>
              <a:t>314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18470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Backend 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360" y="128016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ABC84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80360" y="18470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Integration test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128016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F59E0B"/>
                </a:solidFill>
                <a:latin typeface="Aptos Display"/>
              </a:defRPr>
            </a:pPr>
            <a:r>
              <a:t>178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3480" y="18470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Frontend test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128016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9BEFF"/>
                </a:solidFill>
                <a:latin typeface="Aptos Display"/>
              </a:defRPr>
            </a:pPr>
            <a:r>
              <a:t>~%20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600" y="18470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Frontend coverage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1280160"/>
            <a:ext cx="2194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1">
                <a:solidFill>
                  <a:srgbClr val="1ABC84"/>
                </a:solidFill>
                <a:latin typeface="Aptos Display"/>
              </a:defRPr>
            </a:pPr>
            <a:r>
              <a:t>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20" y="18470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DB migration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2560320"/>
            <a:ext cx="5212080" cy="292608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2560320"/>
            <a:ext cx="41148" cy="292608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32" y="2670048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Blocking Kalite Kapıları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" y="3090672"/>
            <a:ext cx="4919472" cy="23042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Backend verify + JaCoCo</a:t>
            </a:r>
            <a:br/>
            <a:r>
              <a:t>Frontend lint + typecheck + test + build</a:t>
            </a:r>
            <a:br/>
            <a:r>
              <a:t>Flyway migrate/validate</a:t>
            </a:r>
            <a:br/>
            <a:r>
              <a:t>Playwright E2E</a:t>
            </a:r>
            <a:br/>
            <a:r>
              <a:t>Gitleaks history scan</a:t>
            </a:r>
            <a:br/>
            <a:r>
              <a:t>Compose config validation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2560320"/>
            <a:ext cx="5212080" cy="292608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17920" y="2560320"/>
            <a:ext cx="41148" cy="2926080"/>
          </a:xfrm>
          <a:prstGeom prst="rect">
            <a:avLst/>
          </a:prstGeom>
          <a:solidFill>
            <a:srgbClr val="DC3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2512" y="2670048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Açık CI Riski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82512" y="3090672"/>
            <a:ext cx="4919472" cy="23042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OWASP Dependency Check ve iki Trivy image scan adımı continue-on-error.</a:t>
            </a:r>
            <a:br/>
            <a:br/>
            <a:r>
              <a:t>Sonuç: Yeşil CI kritik CVE bulunmadığını garanti etmiyor.</a:t>
            </a:r>
            <a:br/>
            <a:br/>
            <a:r>
              <a:t>Aksiyon: NVD key/mirror + blocking security gate.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Production Readiness Skoru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31520" y="128016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1AB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1444751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1ABC84"/>
                </a:solidFill>
                <a:latin typeface="Aptos Display"/>
              </a:defRPr>
            </a:pPr>
            <a:r>
              <a:t>8.0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212140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Mimari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66160" y="128016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1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03320" y="1444751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19BEFF"/>
                </a:solidFill>
                <a:latin typeface="Aptos Display"/>
              </a:defRPr>
            </a:pPr>
            <a:r>
              <a:t>7.5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3320" y="212140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128016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1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1444751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19BEFF"/>
                </a:solidFill>
                <a:latin typeface="Aptos Display"/>
              </a:defRPr>
            </a:pPr>
            <a:r>
              <a:t>7.5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212140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35440" y="128016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DC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72600" y="1444751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DC383D"/>
                </a:solidFill>
                <a:latin typeface="Aptos Display"/>
              </a:defRPr>
            </a:pPr>
            <a:r>
              <a:t>6.0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212140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Güvenlik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324612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3410712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Aptos Display"/>
              </a:defRPr>
            </a:pPr>
            <a:r>
              <a:t>7.0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08736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566160" y="324612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DC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03320" y="3410712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DC383D"/>
                </a:solidFill>
                <a:latin typeface="Aptos Display"/>
              </a:defRPr>
            </a:pPr>
            <a:r>
              <a:t>6.5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03320" y="408736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0" y="324612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DC3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3410712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DC383D"/>
                </a:solidFill>
                <a:latin typeface="Aptos Display"/>
              </a:defRPr>
            </a:pPr>
            <a:r>
              <a:t>6.5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7960" y="408736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235440" y="3246120"/>
            <a:ext cx="2514600" cy="1508760"/>
          </a:xfrm>
          <a:prstGeom prst="roundRect">
            <a:avLst/>
          </a:prstGeom>
          <a:solidFill>
            <a:srgbClr val="112139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2600" y="3410712"/>
            <a:ext cx="2240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Aptos Display"/>
              </a:defRPr>
            </a:pPr>
            <a:r>
              <a:t>7.0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72600" y="4087368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0">
                <a:solidFill>
                  <a:srgbClr val="9EAEC2"/>
                </a:solidFill>
                <a:latin typeface="Aptos"/>
              </a:defRPr>
            </a:pPr>
            <a:r>
              <a:t>Genel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7280" y="5440680"/>
            <a:ext cx="9966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1">
                <a:solidFill>
                  <a:srgbClr val="F4F8FC"/>
                </a:solidFill>
                <a:latin typeface="Aptos"/>
              </a:defRPr>
            </a:pPr>
            <a:r>
              <a:t>Development readiness: 10/10  ·  Production readiness: 7.0/10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834640" y="5989320"/>
            <a:ext cx="649224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40" y="5989320"/>
            <a:ext cx="649224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SONUÇ: PRODUCTION ADAYI — KOŞULSUZ PRODUCTION-READY DEĞİL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2743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700" b="0">
                <a:solidFill>
                  <a:srgbClr val="F4F8FC"/>
                </a:solidFill>
                <a:latin typeface="Aptos Display"/>
              </a:defRPr>
            </a:pPr>
            <a:r>
              <a:t>Go-Live Yol Haritası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0" y="914400"/>
            <a:ext cx="1508760" cy="0"/>
          </a:xfrm>
          <a:prstGeom prst="line">
            <a:avLst/>
          </a:prstGeom>
          <a:ln w="15240"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94360" y="1417320"/>
            <a:ext cx="2606040" cy="42519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4360" y="1417320"/>
            <a:ext cx="41148" cy="4251960"/>
          </a:xfrm>
          <a:prstGeom prst="rect">
            <a:avLst/>
          </a:prstGeom>
          <a:solidFill>
            <a:srgbClr val="DC3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" y="1527048"/>
            <a:ext cx="2331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P0 Güvenlik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" y="1947672"/>
            <a:ext cx="2313432" cy="3630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Exact CORS</a:t>
            </a:r>
            <a:br/>
            <a:r>
              <a:t>Safe prod defaults</a:t>
            </a:r>
            <a:br/>
            <a:r>
              <a:t>Blocking CVE scan</a:t>
            </a:r>
            <a:br/>
            <a:r>
              <a:t>Prod realm + TLS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" y="5074920"/>
            <a:ext cx="1783080" cy="329184"/>
          </a:xfrm>
          <a:prstGeom prst="roundRect">
            <a:avLst/>
          </a:prstGeom>
          <a:solidFill>
            <a:srgbClr val="DC3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074920"/>
            <a:ext cx="178308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1–2 Gün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27832" y="3520440"/>
            <a:ext cx="219456" cy="0"/>
          </a:xfrm>
          <a:prstGeom prst="line">
            <a:avLst/>
          </a:prstGeom>
          <a:ln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474720" y="1417320"/>
            <a:ext cx="2606040" cy="42519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74720" y="1417320"/>
            <a:ext cx="41148" cy="4251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39312" y="1527048"/>
            <a:ext cx="2331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Operasyon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9312" y="1947672"/>
            <a:ext cx="2313432" cy="3630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Backup/restore drill</a:t>
            </a:r>
            <a:br/>
            <a:r>
              <a:t>Auth E2E</a:t>
            </a:r>
            <a:br/>
            <a:r>
              <a:t>Alarm delivery</a:t>
            </a:r>
            <a:br/>
            <a:r>
              <a:t>Staging migration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86200" y="5074920"/>
            <a:ext cx="178308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5074920"/>
            <a:ext cx="178308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İlk Hafta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108192" y="3520440"/>
            <a:ext cx="219456" cy="0"/>
          </a:xfrm>
          <a:prstGeom prst="line">
            <a:avLst/>
          </a:prstGeom>
          <a:ln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355080" y="1417320"/>
            <a:ext cx="2606040" cy="42519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55080" y="1417320"/>
            <a:ext cx="41148" cy="4251960"/>
          </a:xfrm>
          <a:prstGeom prst="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19672" y="1527048"/>
            <a:ext cx="2331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Kanıt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9672" y="1947672"/>
            <a:ext cx="2313432" cy="3630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Load test</a:t>
            </a:r>
            <a:br/>
            <a:r>
              <a:t>Rollback provası</a:t>
            </a:r>
            <a:br/>
            <a:r>
              <a:t>SLO dashboard</a:t>
            </a:r>
            <a:br/>
            <a:r>
              <a:t>On-call runbook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766560" y="5074920"/>
            <a:ext cx="1783080" cy="329184"/>
          </a:xfrm>
          <a:prstGeom prst="roundRect">
            <a:avLst/>
          </a:prstGeom>
          <a:solidFill>
            <a:srgbClr val="19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66560" y="5074920"/>
            <a:ext cx="178308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Prod Öncesi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988552" y="3520440"/>
            <a:ext cx="219456" cy="0"/>
          </a:xfrm>
          <a:prstGeom prst="line">
            <a:avLst/>
          </a:prstGeom>
          <a:ln>
            <a:solidFill>
              <a:srgbClr val="DC3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9235440" y="1417320"/>
            <a:ext cx="2606040" cy="4251960"/>
          </a:xfrm>
          <a:prstGeom prst="rect">
            <a:avLst/>
          </a:prstGeom>
          <a:solidFill>
            <a:srgbClr val="112139"/>
          </a:solidFill>
          <a:ln w="10160">
            <a:solidFill>
              <a:srgbClr val="19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35440" y="1417320"/>
            <a:ext cx="41148" cy="4251960"/>
          </a:xfrm>
          <a:prstGeom prst="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00032" y="1527048"/>
            <a:ext cx="2331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0">
                <a:solidFill>
                  <a:srgbClr val="F4F8FC"/>
                </a:solidFill>
                <a:latin typeface="Aptos"/>
              </a:defRPr>
            </a:pPr>
            <a:r>
              <a:t>Sadeleştirme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00032" y="1947672"/>
            <a:ext cx="2313432" cy="3630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600" b="0">
                <a:solidFill>
                  <a:srgbClr val="9EAEC2"/>
                </a:solidFill>
                <a:latin typeface="Aptos"/>
              </a:defRPr>
            </a:pPr>
            <a:r>
              <a:t>Service refactor</a:t>
            </a:r>
            <a:br/>
            <a:r>
              <a:t>Coverage artışı</a:t>
            </a:r>
            <a:br/>
            <a:r>
              <a:t>HA Kafka/OpenSearch</a:t>
            </a:r>
            <a:br/>
            <a:r>
              <a:t>Capacity planning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46919" y="5074920"/>
            <a:ext cx="1783080" cy="329184"/>
          </a:xfrm>
          <a:prstGeom prst="round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46919" y="5074920"/>
            <a:ext cx="178308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Uzun Vade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1286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691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4905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3310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8524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6929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753344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05488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0"/>
            <a:ext cx="0" cy="685800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404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6809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115214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3619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230428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268833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7238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345643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422452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499262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537667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6144768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6528816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6912864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7296912"/>
            <a:ext cx="12191695" cy="0"/>
          </a:xfrm>
          <a:prstGeom prst="line">
            <a:avLst/>
          </a:prstGeom>
          <a:ln w="4445">
            <a:solidFill>
              <a:srgbClr val="192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828800" y="1051560"/>
            <a:ext cx="85496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100" b="0">
                <a:solidFill>
                  <a:srgbClr val="F4F8FC"/>
                </a:solidFill>
                <a:latin typeface="Aptos Display"/>
              </a:defRPr>
            </a:pPr>
            <a:r>
              <a:t>Sonuç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2148840"/>
            <a:ext cx="955548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200" b="0">
                <a:solidFill>
                  <a:srgbClr val="19BEFF"/>
                </a:solidFill>
                <a:latin typeface="Aptos"/>
              </a:defRPr>
            </a:pPr>
            <a:r>
              <a:t>MintStack; gerçek entegrasyonları, finansal transaction kuralları,</a:t>
            </a:r>
            <a:br/>
            <a:r>
              <a:t>iş kuralları ve gözlemlenebilirliği güçlüdür; production güvenlik kapıları açıktır.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3429000"/>
            <a:ext cx="854964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000" b="1">
                <a:solidFill>
                  <a:srgbClr val="F4F8FC"/>
                </a:solidFill>
                <a:latin typeface="Aptos"/>
              </a:defRPr>
            </a:pPr>
            <a:r>
              <a:t>En doğru sonraki adım yeni özellik değil:</a:t>
            </a:r>
            <a:br/>
            <a:r>
              <a:t>P0/P1 production kapılarını kanıtla ve kapat.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08960" y="4709160"/>
            <a:ext cx="2194560" cy="329184"/>
          </a:xfrm>
          <a:prstGeom prst="roundRect">
            <a:avLst/>
          </a:prstGeom>
          <a:solidFill>
            <a:srgbClr val="1A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0" y="4709160"/>
            <a:ext cx="219456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DEVELOPMENT: HAZIR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32120" y="4709160"/>
            <a:ext cx="242316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4709160"/>
            <a:ext cx="242316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PRODUCTION: 7.0 / 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26080" y="5715000"/>
            <a:ext cx="6309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9EAEC2"/>
                </a:solidFill>
                <a:latin typeface="Aptos"/>
              </a:defRPr>
            </a:pPr>
            <a:r>
              <a:t>Mesut Taha Güven  ·  Teknik Dokümantasyon v2.1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MintStack Teknik Mimari ve Production Readiness</dc:title>
  <dc:subject>MintStack Finance Portal v2.1</dc:subject>
  <dc:creator>Mesut Taha Güven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